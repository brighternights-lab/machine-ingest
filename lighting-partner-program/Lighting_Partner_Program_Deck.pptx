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fee</c:v>
                </c:pt>
              </c:strCache>
            </c:strRef>
          </c:tx>
          <c:spPr>
            <a:solidFill>
              <a:srgbClr val="FF0EA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$250K</c:v>
                  </c:pt>
                  <c:pt idx="1">
                    <c:v>$500K</c:v>
                  </c:pt>
                  <c:pt idx="2">
                    <c:v>$750K</c:v>
                  </c:pt>
                  <c:pt idx="3">
                    <c:v>$1M</c:v>
                  </c:pt>
                  <c:pt idx="4">
                    <c:v>$1.25M</c:v>
                  </c:pt>
                  <c:pt idx="5">
                    <c:v>$1.5M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17500</c:v>
                </c:pt>
                <c:pt idx="1">
                  <c:v>32500</c:v>
                </c:pt>
                <c:pt idx="2">
                  <c:v>45000</c:v>
                </c:pt>
                <c:pt idx="3">
                  <c:v>55000</c:v>
                </c:pt>
                <c:pt idx="4">
                  <c:v>62500</c:v>
                </c:pt>
                <c:pt idx="5">
                  <c:v>70000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8DBE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F44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3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reinvestment</c:v>
                </c:pt>
              </c:strCache>
            </c:strRef>
          </c:tx>
          <c:spPr>
            <a:solidFill>
              <a:srgbClr val="FF0EA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$500K</c:v>
                  </c:pt>
                  <c:pt idx="1">
                    <c:v>$1M</c:v>
                  </c:pt>
                  <c:pt idx="2">
                    <c:v>$1.5M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9750</c:v>
                </c:pt>
                <c:pt idx="1">
                  <c:v>16500</c:v>
                </c:pt>
                <c:pt idx="2">
                  <c:v>21000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Your match</c:v>
                </c:pt>
              </c:strCache>
            </c:strRef>
          </c:tx>
          <c:spPr>
            <a:solidFill>
              <a:srgbClr val="5BE3DD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$500K</c:v>
                  </c:pt>
                  <c:pt idx="1">
                    <c:v>$1M</c:v>
                  </c:pt>
                  <c:pt idx="2">
                    <c:v>$1.5M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9750</c:v>
                </c:pt>
                <c:pt idx="1">
                  <c:v>16500</c:v>
                </c:pt>
                <c:pt idx="2">
                  <c:v>21000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8DBE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F44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3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fee credit</c:v>
                </c:pt>
              </c:strCache>
            </c:strRef>
          </c:tx>
          <c:spPr>
            <a:solidFill>
              <a:srgbClr val="FF0EAA"/>
            </a:solidFill>
            <a:ln w="38100" cap="flat">
              <a:solidFill>
                <a:srgbClr val="FF0E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F0EAA"/>
              </a:solidFill>
              <a:ln w="9525" cap="flat">
                <a:solidFill>
                  <a:srgbClr val="FF0E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32500</c:v>
                </c:pt>
                <c:pt idx="1">
                  <c:v>77500</c:v>
                </c:pt>
                <c:pt idx="2">
                  <c:v>132500</c:v>
                </c:pt>
                <c:pt idx="3">
                  <c:v>196500</c:v>
                </c:pt>
                <c:pt idx="4">
                  <c:v>269500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Ledger $201,400</c:v>
                </c:pt>
              </c:strCache>
            </c:strRef>
          </c:tx>
          <c:spPr>
            <a:solidFill>
              <a:srgbClr val="9AD9C2"/>
            </a:solidFill>
            <a:ln w="38100" cap="flat">
              <a:solidFill>
                <a:srgbClr val="9AD9C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D9C2"/>
              </a:solidFill>
              <a:ln w="9525" cap="flat">
                <a:solidFill>
                  <a:srgbClr val="9AD9C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201400</c:v>
                </c:pt>
                <c:pt idx="1">
                  <c:v>201400</c:v>
                </c:pt>
                <c:pt idx="2">
                  <c:v>201400</c:v>
                </c:pt>
                <c:pt idx="3">
                  <c:v>201400</c:v>
                </c:pt>
                <c:pt idx="4">
                  <c:v>201400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8DBE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F44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3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Outdoor lighting market ($B)</c:v>
                </c:pt>
              </c:strCache>
            </c:strRef>
          </c:tx>
          <c:spPr>
            <a:solidFill>
              <a:srgbClr val="5BE3DD"/>
            </a:solidFill>
            <a:effectLst/>
          </c:spPr>
          <c:invertIfNegative val="0"/>
          <c:dLbls>
            <c:numFmt formatCode="$0.0&quot;B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2026</c:v>
                  </c:pt>
                  <c:pt idx="2">
                    <c:v>2028</c:v>
                  </c:pt>
                  <c:pt idx="3">
                    <c:v>2030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17.1</c:v>
                </c:pt>
                <c:pt idx="1">
                  <c:v>20.4</c:v>
                </c:pt>
                <c:pt idx="2">
                  <c:v>24.2</c:v>
                </c:pt>
                <c:pt idx="3">
                  <c:v>28.4</c:v>
                </c:pt>
              </c:numCache>
            </c:numRef>
          </c:val>
        </c:ser>
        <c:dLbls>
          <c:numFmt formatCode="$0.0&quot;B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8DBE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F44"/>
              </a:solidFill>
              <a:prstDash val="solid"/>
              <a:round/>
            </a:ln>
          </c:spPr>
        </c:majorGridlines>
        <c:numFmt formatCode="$0&quot;B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3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CTR</c:v>
                </c:pt>
              </c:strCache>
            </c:strRef>
          </c:tx>
          <c:spPr>
            <a:solidFill>
              <a:srgbClr val="FF0EA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#1</c:v>
                  </c:pt>
                  <c:pt idx="1">
                    <c:v>#2</c:v>
                  </c:pt>
                  <c:pt idx="2">
                    <c:v>#3</c:v>
                  </c:pt>
                  <c:pt idx="3">
                    <c:v>#4</c:v>
                  </c:pt>
                  <c:pt idx="4">
                    <c:v>#5</c:v>
                  </c:pt>
                  <c:pt idx="5">
                    <c:v>#6 to 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27.6</c:v>
                </c:pt>
                <c:pt idx="1">
                  <c:v>15.8</c:v>
                </c:pt>
                <c:pt idx="2">
                  <c:v>11</c:v>
                </c:pt>
                <c:pt idx="3">
                  <c:v>8.4</c:v>
                </c:pt>
                <c:pt idx="4">
                  <c:v>6.3</c:v>
                </c:pt>
                <c:pt idx="5">
                  <c:v>3.5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8DBE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F4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3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conversion</c:v>
                </c:pt>
              </c:strCache>
            </c:strRef>
          </c:tx>
          <c:spPr>
            <a:solidFill>
              <a:srgbClr val="9AD9C2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Contact form only</c:v>
                  </c:pt>
                  <c:pt idx="1">
                    <c:v>Instant estimate</c:v>
                  </c:pt>
                  <c:pt idx="2">
                    <c:v>Estimate + booking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2.3</c:v>
                </c:pt>
                <c:pt idx="2">
                  <c:v>3.8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8DBE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F44"/>
              </a:solidFill>
              <a:prstDash val="solid"/>
              <a:round/>
            </a:ln>
          </c:spPr>
        </c:majorGridlines>
        <c:numFmt formatCode="0&quot;x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3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8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9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11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Slide-14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Slide-15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Slide-16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822960" cy="1143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194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 PARTNER PROGRAM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6517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run the jobs.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run your growth. Launch and beyond.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lighting business build out, paid for as a sliding share of what you actually earn. Every fee dollar buys you the site outright.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Lighting Technologies  ·  Founding round, 10 seats nationwide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contractor hits the same wall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into permanent lighting is easy. Getting found, quoting fast, and closing is the hard part.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website that converts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sites, no estimator, no booking, no photos of real installs.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teaches lighting sales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514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Bids, upsells, controller demos, seasonal programming. You learn it the expensive way.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agencies do not know lighting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514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$2K to $10K a month, 4 to 8 months to launch, and the site disappears when you cancel.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069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proof to show homeowners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5720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jobs are your only portfolio.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43400" y="38862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4069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Franchises take the upside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45720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$20K to $75K upfront plus 6 to 10% forever, and you build their brand.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Scorpion, Blue Corona, Hook Agency published pricing 2026; FMS Franchise, Franchise Creator royalty benchmarks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promise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the whole growth engine around your brand, and we keep running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Website, SEO, instant estimates, online booking, AI assistant, tracking, ad accounts, photo and video library.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74320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Masters of Lighting Academy, three playbooks, sales and bid support, install troubleshooting.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74320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rankings report, standing check ins, competitor site reviews, matched ad spend, ongoing builds.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52560" y="192024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8116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74320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fee dollar credits toward the site. Earn it out and it is yours, domain, content, ad accounts.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this is for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round is 10 seats, one per county, two onboarded per month.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6583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Contractors already in a trade (roofing, electrical, landscape, pool, gutters) adding permanent lighting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operators who can install and want to stop chasing leads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 to match 30% of our fee into local marketing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 county territory, your own brand name, no franchise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a short qualification screen before a seat is offered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89520" y="19202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2057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seats nationwide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89520" y="34747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0" y="3611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D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per county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 territory, your name on the truck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pieces that normally cost $95K to $189K if you bought them one at a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28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lighting website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828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foundation and local rankings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1828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estimate tool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52928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85292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booking with deposits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2852928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85292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trained on lighting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2852928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285292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and rankings dashboard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87705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and video library, thousands of installs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3877056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387705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built into the site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38160" y="3877056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66760" y="387705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accounts and landing pages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901184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90118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labeled sales collateral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43400" y="4901184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490118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contractor playbooks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38160" y="4901184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66760" y="490118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Masters of Lighting Academy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install photos here before presenting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Masters of Lighting Academy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and a partner community, so you are never figuring this out alone.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6858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 Mastery Series, sales, bidding, install, troubleshooting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partner community, partners answer partners, moderators before Austen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office hours and standing check ins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installer directory listing on brighternights.com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MOLA is training. MOL (Masters of Light) is our rep program. Different things.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0" y="1920240"/>
            <a:ext cx="3840480" cy="3749040"/>
          </a:xfrm>
          <a:prstGeom prst="roundRect">
            <a:avLst>
              <a:gd name="adj" fmla="val 292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0100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time with us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26517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 2 hours a week with your partner manager. The rest of our time goes into building and ranking your site.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paid for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upfront bill. A sliding share of gross lighting revenue that drops as you grow.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58368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C9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annual gross revenue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C9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 on that portion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$250,000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0E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$250,000 to $500,000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0E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$500,000 to $750,000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0E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$750,000 to $1,000,000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0E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Above $1,000,000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0E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1920240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1812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Marginal, like tax brackets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6517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tier only applies to the dollars inside it. At $1M gross the blended rate is 5.5%. At $1.5M it is 4.7%.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reinvest 30% of our fee into your ads. You match that 30% locally.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looks like in dollars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by annual gross, marginal tier math. Your profit after fee stays above 90% at every level.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7315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82880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0" y="19659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$32,500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at $500K gross (6.5% blended)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0" y="338328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0" y="3520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D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$55,000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at $1M gross (5.5% blended)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0" y="49377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0" y="5074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E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$70,000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5760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at $1.5M gross (4.7% blended)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reinvest in you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of every fee dollar goes straight back into your ads. You match it.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828800"/>
            <a:ext cx="3840480" cy="4114800"/>
          </a:xfrm>
          <a:prstGeom prst="roundRect">
            <a:avLst>
              <a:gd name="adj" fmla="val 285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ad budget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560320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 a year at $500K gross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$33,000 a year at $1M gross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$42,000 a year at $1.5M gross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by us, tracked on your dashboard, every lead sourced.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site has a real, stated value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value every piece we build at what another company would charge, plus what it would cost you to teach an agency lighting.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49808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1645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1  ·  Market replacement cost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$102,650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C9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site, SEO, estimator, booking, AI assistant, tracking, library, CRM, ads, collateral, playbooks, MOLA, hosting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2  ·  Your time not spent teaching an agency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C9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 hours explaining lighting, correcting their work, sourcing photos and video, at $150 an hour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3  ·  Revenue not lost to a 5 month agency delay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$71,750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C9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months, $41K a month, 35% of jobs driven by the site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0E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Ledger opening value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0E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$201,400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321040" y="182880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4964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evaluator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256032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line item has a low, mid, and high market rate. Check what was built, enter your numbers, and the ledger updates. Weekly report shows the live balance.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2026 published agency and freelance rates for home service contractors, midpoint used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fee dollar buys the site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what you pay us credits against the ledger. Reach it and the site is yours.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71323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4"/>
          <p:cNvSpPr/>
          <p:nvPr/>
        </p:nvSpPr>
        <p:spPr>
          <a:xfrm>
            <a:off x="8046720" y="18288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0" y="1965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~Year 5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partner growing $500K to $1.6M owns the site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46720" y="338328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35204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D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every fee dollar credits the ledger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49377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exit you keep the domain, the content license, and your ad accounts. No more fees.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more than the base site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ons are your call. They raise the value of what you own and go on the ledger at rate card.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659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email the request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9659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price it off the rate card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006840" y="19659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quote to you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290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written approval, nothing builds without 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329184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4290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ship it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38160" y="329184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6676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34290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updates on ship date, dashboard next week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937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maintenance never counts toward the ledger. Only things you ask for. If your add on pace projects a buyout past year 7 we flag it before you approve.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launch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one time build. We keep running your growth.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Rankings dashboard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Keywords, positions, and every lead sourced, updated live.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report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7432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balance, buyout price, fee tier, what shipped.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 check ins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7432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 2 hours a week with your partner manager.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52560" y="192024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8116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reviews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7432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watch competitor sites and propose what to add.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is moving fast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lighting is growing, and permanent lighting is the fastest piece of it.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82880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965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to 60%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2651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growth in permanent lighting installs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0" y="338328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35204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D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to 45%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4206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margins on installed jobs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Grand View Research outdoor lighting 2024 to 2030; Trimlight, Strandr dealer reports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is the whole game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one on Google gets four times the clicks of position three.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828800"/>
            <a:ext cx="3840480" cy="4114800"/>
          </a:xfrm>
          <a:prstGeom prst="roundRect">
            <a:avLst>
              <a:gd name="adj" fmla="val 285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that means for you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560320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site built to rank for "permanent lighting" plus your county wins the click before the homeowner ever sees a competitor. Our SEO foundation ships on day one and we report on it weekly.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First Page Sage Google CTR study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tools close more jobs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Homeowners who can price and book on the spot convert at two to four times the rate.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82880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965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391%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2651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in conversion when a lead is answered inside one minute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0" y="338328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35204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E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4206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answers product and pricing questions while you sleep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PipelineOn, MyQuoteIQ, CallRail home services conversion studies 2026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Versus a marketing agency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money, very different outcome.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C9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Lighting Partner Program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C9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agency (Scorpion, Blue Corona, Hook)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D9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upfront, 3 to 7% of gross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$2,000 to $10,000+ flat, win or lose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Knows permanent lighting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D9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we make the product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you teach them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to launch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D9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to 8 months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Ownership on cancel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D9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fee dollar credits toward owning 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disappears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Photo and video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D9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Thousands of real installs included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supply or they stock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D9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year, county exclusive, buyout any 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month lock in, no exit 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Agency pricing pages and Built With Dias, Local Service Mastery reviews 2026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Versus a franchise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your name and the upside.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292608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C9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Lighting Partner Program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C9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service franchise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C9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Trimlight dealer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Upfront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D9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$20K to $75K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Ongoing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D9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 down to 3%, credits to ownership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to 10% royalty forever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Materials markup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brand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D9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Website and tools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D9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 and earned out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Templated, theirs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included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Territory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D9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County exclusive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Assigned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B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Assigned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FMS Franchise, Franchise Creator, CT Acquisitions 2026; Trimlight dealer program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first call to launch in weeks, not months.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6596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 call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96596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Territory check and seat offer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006840" y="196596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signed, 3 year term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6118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Site, tools, and ads built (2 to 4 weeks)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347472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6118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MOLA onboarding and first bids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38160" y="347472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6676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36118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Launch, weekly reports begin the following week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fine print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language now, attorney language in the agreement.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year term, county exclusive, your own brand name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is on gross lighting revenue, reported monthly, verified against distributor purchases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Buyout any time: current ledger balance plus 3 months trailing fee, minus 100% of fees already paid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ons only at your written approval, added to the ledger at rate card on ship date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maintenance and hosting never raise the ledger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exit you keep domain, content license, ad accounts. Photo library stays licensed to you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equity conversion clause available, not required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any time, the ledger math still applies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 NIGHTS  ·  LIGHTING PARTNER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is, and is not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51760" cy="4023360"/>
          </a:xfrm>
          <a:prstGeom prst="roundRect">
            <a:avLst>
              <a:gd name="adj" fmla="val 413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agency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know lighting because we make it. Nothing to teach us.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51760" cy="4023360"/>
          </a:xfrm>
          <a:prstGeom prst="roundRect">
            <a:avLst>
              <a:gd name="adj" fmla="val 413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franchise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51460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name, your brand, your county. No royalty forever.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51760" cy="4023360"/>
          </a:xfrm>
          <a:prstGeom prst="roundRect">
            <a:avLst>
              <a:gd name="adj" fmla="val 413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one time build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51460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reports, standing check ins, ongoing builds.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1554480"/>
            <a:ext cx="2651760" cy="4023360"/>
          </a:xfrm>
          <a:prstGeom prst="roundRect">
            <a:avLst>
              <a:gd name="adj" fmla="val 413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8116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generic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251460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tool, photo, and playbook is built for permanent lighting.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685800" cy="95097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seats. One per county.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017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B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partners onboarded a month. When your county is taken, it is taken.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931920"/>
            <a:ext cx="3108960" cy="438912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5875">
            <a:solidFill>
              <a:srgbClr val="FF0E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93192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0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QUALIFICATION CALL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31920" y="3931920"/>
            <a:ext cx="2743200" cy="438912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5875">
            <a:solidFill>
              <a:srgbClr val="5BE3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31920" y="39319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BE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BRIGHTERNIGHTS.COM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407-469-7093  ·  austen@brighternights.com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2026-09-26T23:46:12Z</dcterms:created>
  <dcterms:modified xsi:type="dcterms:W3CDTF">2026-09-26T23:46:12Z</dcterms:modified>
</cp:coreProperties>
</file>